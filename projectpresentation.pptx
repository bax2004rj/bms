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0077450" cy="566896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6" d="100"/>
          <a:sy n="126" d="100"/>
        </p:scale>
        <p:origin x="82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3280" y="1972440"/>
            <a:ext cx="9068400" cy="105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6600" b="1" u="none" strike="noStrike">
              <a:solidFill>
                <a:srgbClr val="FFFFFF"/>
              </a:solidFill>
              <a:effectLst/>
              <a:uFillTx/>
              <a:latin typeface="Source Sans Pro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503280" y="3510000"/>
            <a:ext cx="9068400" cy="1499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2800" b="0" u="none" strike="noStrike">
              <a:solidFill>
                <a:srgbClr val="E69ABA"/>
              </a:solidFill>
              <a:effectLst/>
              <a:uFillTx/>
              <a:latin typeface="Source Sans Pro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EC31BFAA-FC3C-4D44-9E1C-4165869B9707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03280" y="1972440"/>
            <a:ext cx="9068400" cy="105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6600" b="1" u="none" strike="noStrike">
              <a:solidFill>
                <a:srgbClr val="FFFFFF"/>
              </a:solidFill>
              <a:effectLst/>
              <a:uFillTx/>
              <a:latin typeface="Source Sans Pro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503280" y="3510000"/>
            <a:ext cx="9068400" cy="1499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ctr">
              <a:spcBef>
                <a:spcPts val="1409"/>
              </a:spcBef>
              <a:buNone/>
            </a:pPr>
            <a:endParaRPr lang="en-US" sz="3200" b="0" u="none" strike="noStrike">
              <a:solidFill>
                <a:srgbClr val="FFFFFF"/>
              </a:solidFill>
              <a:effectLst/>
              <a:uFillTx/>
              <a:latin typeface="Source Sans Pro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94BD275B-5D18-43C4-B0BA-5E98C05C873F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3280" y="1972440"/>
            <a:ext cx="9068400" cy="105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6600" b="1" u="none" strike="noStrike">
              <a:solidFill>
                <a:srgbClr val="FFFFFF"/>
              </a:solidFill>
              <a:effectLst/>
              <a:uFillTx/>
              <a:latin typeface="Source Sans Pro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subTitle"/>
          </p:nvPr>
        </p:nvSpPr>
        <p:spPr>
          <a:xfrm>
            <a:off x="503280" y="3510000"/>
            <a:ext cx="9068400" cy="1499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2800" b="0" u="none" strike="noStrike">
              <a:solidFill>
                <a:srgbClr val="E69ABA"/>
              </a:solidFill>
              <a:effectLst/>
              <a:uFillTx/>
              <a:latin typeface="Source Sans Pro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2143924-5923-4EA6-86A9-F385BAA97A03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3280" y="225360"/>
            <a:ext cx="906876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876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75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Click to edit the outline text format</a:t>
            </a:r>
          </a:p>
          <a:p>
            <a:pPr marL="864000" lvl="1" indent="-324000">
              <a:spcBef>
                <a:spcPts val="1123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Second Outline Level</a:t>
            </a:r>
          </a:p>
          <a:p>
            <a:pPr marL="1296000" lvl="2" indent="-288000">
              <a:spcBef>
                <a:spcPts val="84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Third Outline Level</a:t>
            </a:r>
          </a:p>
          <a:p>
            <a:pPr marL="1728000" lvl="3" indent="-216000">
              <a:spcBef>
                <a:spcPts val="55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Fourth Outline Level</a:t>
            </a:r>
          </a:p>
          <a:p>
            <a:pPr marL="2160000" lvl="4" indent="-216000">
              <a:spcBef>
                <a:spcPts val="27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Fifth Outline Level</a:t>
            </a:r>
          </a:p>
          <a:p>
            <a:pPr marL="2592000" lvl="5" indent="-216000">
              <a:spcBef>
                <a:spcPts val="27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Sixth Outline Level</a:t>
            </a:r>
          </a:p>
          <a:p>
            <a:pPr marL="3024000" lvl="6" indent="-216000">
              <a:spcBef>
                <a:spcPts val="27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Seventh Outline Level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>
          <a:xfrm>
            <a:off x="3445560" y="5164200"/>
            <a:ext cx="319392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999999"/>
                </a:solidFill>
                <a:effectLst/>
                <a:uFillTx/>
                <a:latin typeface="Source Sans Pro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999999"/>
                </a:solidFill>
                <a:effectLst/>
                <a:uFillTx/>
                <a:latin typeface="Source Sans Pro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360"/>
            <a:ext cx="10076760" cy="228600"/>
          </a:xfrm>
          <a:prstGeom prst="rect">
            <a:avLst/>
          </a:prstGeom>
          <a:solidFill>
            <a:srgbClr val="55308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dt" idx="2"/>
          </p:nvPr>
        </p:nvSpPr>
        <p:spPr>
          <a:xfrm>
            <a:off x="503280" y="5164200"/>
            <a:ext cx="23472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999999"/>
                </a:solidFill>
                <a:effectLst/>
                <a:uFillTx/>
                <a:latin typeface="Source Sans Pro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999999"/>
                </a:solidFill>
                <a:effectLst/>
                <a:uFillTx/>
                <a:latin typeface="Source Sans Pro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sldNum" idx="3"/>
          </p:nvPr>
        </p:nvSpPr>
        <p:spPr>
          <a:xfrm>
            <a:off x="7224480" y="5164200"/>
            <a:ext cx="23472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999999"/>
                </a:solidFill>
                <a:effectLst/>
                <a:uFillTx/>
                <a:latin typeface="Source Sans Pro"/>
              </a:defRPr>
            </a:lvl1pPr>
          </a:lstStyle>
          <a:p>
            <a:pPr indent="0" algn="r">
              <a:buNone/>
            </a:pPr>
            <a:fld id="{6C3D596D-2134-4850-AC28-865FAD97DF40}" type="slidenum">
              <a:rPr lang="en-US" sz="1400" b="0" u="none" strike="noStrike">
                <a:solidFill>
                  <a:srgbClr val="999999"/>
                </a:solidFill>
                <a:effectLst/>
                <a:uFillTx/>
                <a:latin typeface="Source Sans Pro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530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3280" y="2025720"/>
            <a:ext cx="90684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6600" b="1" u="none" strike="noStrike">
                <a:solidFill>
                  <a:srgbClr val="FFFFFF"/>
                </a:solidFill>
                <a:effectLst/>
                <a:uFillTx/>
                <a:latin typeface="Source Sans Pro"/>
              </a:rPr>
              <a:t>Click to edit the title text format</a:t>
            </a: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503280" y="3510000"/>
            <a:ext cx="9068400" cy="1499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7500" lnSpcReduction="19999"/>
          </a:bodyPr>
          <a:lstStyle/>
          <a:p>
            <a:pPr marL="432000" indent="-324000" algn="ctr">
              <a:spcBef>
                <a:spcPts val="1409"/>
              </a:spcBef>
              <a:buClr>
                <a:srgbClr val="FFFFFF"/>
              </a:buClr>
              <a:buFont typeface="OpenSymbol"/>
              <a:buAutoNum type="arabicParenR"/>
            </a:pPr>
            <a:r>
              <a:rPr lang="en-US" sz="2800" b="0" u="none" strike="noStrike">
                <a:solidFill>
                  <a:srgbClr val="FFFFFF"/>
                </a:solidFill>
                <a:effectLst/>
                <a:uFillTx/>
                <a:latin typeface="Source Sans Pro"/>
              </a:rPr>
              <a:t>Click to edit the outline text format</a:t>
            </a:r>
          </a:p>
          <a:p>
            <a:pPr marL="864000" lvl="1" indent="-324000" algn="ctr">
              <a:spcBef>
                <a:spcPts val="1123"/>
              </a:spcBef>
              <a:buClr>
                <a:srgbClr val="FFFFFF"/>
              </a:buClr>
              <a:buFont typeface="OpenSymbol"/>
              <a:buAutoNum type="arabicParenR"/>
            </a:pPr>
            <a:r>
              <a:rPr lang="en-US" sz="2800" b="0" u="none" strike="noStrike">
                <a:solidFill>
                  <a:srgbClr val="FFFFFF"/>
                </a:solidFill>
                <a:effectLst/>
                <a:uFillTx/>
                <a:latin typeface="Source Sans Pro"/>
              </a:rPr>
              <a:t>Second Outline Level</a:t>
            </a:r>
          </a:p>
          <a:p>
            <a:pPr marL="1296000" lvl="2" indent="-288000" algn="ctr">
              <a:spcBef>
                <a:spcPts val="842"/>
              </a:spcBef>
              <a:buClr>
                <a:srgbClr val="FFFFFF"/>
              </a:buClr>
              <a:buFont typeface="OpenSymbol"/>
              <a:buAutoNum type="arabicParenR"/>
            </a:pPr>
            <a:r>
              <a:rPr lang="en-US" sz="2800" b="0" u="none" strike="noStrike">
                <a:solidFill>
                  <a:srgbClr val="FFFFFF"/>
                </a:solidFill>
                <a:effectLst/>
                <a:uFillTx/>
                <a:latin typeface="Source Sans Pro"/>
              </a:rPr>
              <a:t>Third Outline Level</a:t>
            </a:r>
          </a:p>
          <a:p>
            <a:pPr marL="1728000" lvl="3" indent="-216000" algn="ctr">
              <a:spcBef>
                <a:spcPts val="558"/>
              </a:spcBef>
              <a:buClr>
                <a:srgbClr val="FFFFFF"/>
              </a:buClr>
              <a:buFont typeface="OpenSymbol"/>
              <a:buAutoNum type="arabicParenR"/>
            </a:pPr>
            <a:r>
              <a:rPr lang="en-US" sz="2800" b="0" u="none" strike="noStrike">
                <a:solidFill>
                  <a:srgbClr val="FFFFFF"/>
                </a:solidFill>
                <a:effectLst/>
                <a:uFillTx/>
                <a:latin typeface="Source Sans Pro"/>
              </a:rPr>
              <a:t>Fourth Outline Level</a:t>
            </a:r>
          </a:p>
          <a:p>
            <a:pPr marL="2160000" lvl="4" indent="-216000" algn="ctr">
              <a:spcBef>
                <a:spcPts val="275"/>
              </a:spcBef>
              <a:buClr>
                <a:srgbClr val="FFFFFF"/>
              </a:buClr>
              <a:buFont typeface="OpenSymbol"/>
              <a:buAutoNum type="arabicParenR"/>
            </a:pPr>
            <a:r>
              <a:rPr lang="en-US" sz="2800" b="0" u="none" strike="noStrike">
                <a:solidFill>
                  <a:srgbClr val="FFFFFF"/>
                </a:solidFill>
                <a:effectLst/>
                <a:uFillTx/>
                <a:latin typeface="Source Sans Pro"/>
              </a:rPr>
              <a:t>Fifth Outline Level</a:t>
            </a:r>
          </a:p>
          <a:p>
            <a:pPr marL="2592000" lvl="5" indent="-216000" algn="ctr">
              <a:spcBef>
                <a:spcPts val="275"/>
              </a:spcBef>
              <a:buClr>
                <a:srgbClr val="FFFFFF"/>
              </a:buClr>
              <a:buFont typeface="OpenSymbol"/>
              <a:buAutoNum type="arabicParenR"/>
            </a:pPr>
            <a:r>
              <a:rPr lang="en-US" sz="2800" b="0" u="none" strike="noStrike">
                <a:solidFill>
                  <a:srgbClr val="FFFFFF"/>
                </a:solidFill>
                <a:effectLst/>
                <a:uFillTx/>
                <a:latin typeface="Source Sans Pro"/>
              </a:rPr>
              <a:t>Sixth Outline Level</a:t>
            </a:r>
          </a:p>
          <a:p>
            <a:pPr marL="3024000" lvl="6" indent="-216000" algn="ctr">
              <a:spcBef>
                <a:spcPts val="275"/>
              </a:spcBef>
              <a:buClr>
                <a:srgbClr val="FFFFFF"/>
              </a:buClr>
              <a:buFont typeface="OpenSymbol"/>
              <a:buAutoNum type="arabicParenR"/>
            </a:pPr>
            <a:r>
              <a:rPr lang="en-US" sz="2800" b="0" u="none" strike="noStrike">
                <a:solidFill>
                  <a:srgbClr val="FFFFFF"/>
                </a:solidFill>
                <a:effectLst/>
                <a:uFillTx/>
                <a:latin typeface="Source Sans Pro"/>
              </a:rPr>
              <a:t>Seventh Outline Level</a:t>
            </a:r>
          </a:p>
        </p:txBody>
      </p:sp>
      <p:sp>
        <p:nvSpPr>
          <p:cNvPr id="14" name="PlaceHolder 3"/>
          <p:cNvSpPr>
            <a:spLocks noGrp="1"/>
          </p:cNvSpPr>
          <p:nvPr>
            <p:ph type="dt" idx="4"/>
          </p:nvPr>
        </p:nvSpPr>
        <p:spPr>
          <a:xfrm>
            <a:off x="503280" y="5164200"/>
            <a:ext cx="23472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41190D"/>
                </a:solidFill>
                <a:effectLst/>
                <a:uFillTx/>
                <a:latin typeface="Source Sans Pro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41190D"/>
                </a:solidFill>
                <a:effectLst/>
                <a:uFillTx/>
                <a:latin typeface="Source Sans Pro"/>
              </a:rPr>
              <a:t>&lt;date/time&gt;</a:t>
            </a:r>
            <a:endParaRPr lang="en-US" sz="1400" b="0" u="none" strike="noStrike">
              <a:solidFill>
                <a:srgbClr val="41190D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5"/>
          </p:nvPr>
        </p:nvSpPr>
        <p:spPr>
          <a:xfrm>
            <a:off x="3445560" y="5164200"/>
            <a:ext cx="319392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41190D"/>
                </a:solidFill>
                <a:effectLst/>
                <a:uFillTx/>
                <a:latin typeface="Source Sans Pro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41190D"/>
                </a:solidFill>
                <a:effectLst/>
                <a:uFillTx/>
                <a:latin typeface="Source Sans Pro"/>
              </a:rPr>
              <a:t>&lt;footer&gt;</a:t>
            </a:r>
            <a:endParaRPr lang="en-US" sz="1400" b="0" u="none" strike="noStrike">
              <a:solidFill>
                <a:srgbClr val="41190D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6"/>
          </p:nvPr>
        </p:nvSpPr>
        <p:spPr>
          <a:xfrm>
            <a:off x="7224480" y="5164200"/>
            <a:ext cx="23472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41190D"/>
                </a:solidFill>
                <a:effectLst/>
                <a:uFillTx/>
                <a:latin typeface="Source Sans Pro"/>
              </a:defRPr>
            </a:lvl1pPr>
          </a:lstStyle>
          <a:p>
            <a:pPr indent="0" algn="r">
              <a:buNone/>
            </a:pPr>
            <a:fld id="{C6739B29-BD37-437D-B823-66668ED07456}" type="slidenum">
              <a:rPr lang="en-US" sz="1400" b="0" u="none" strike="noStrike">
                <a:solidFill>
                  <a:srgbClr val="41190D"/>
                </a:solidFill>
                <a:effectLst/>
                <a:uFillTx/>
                <a:latin typeface="Source Sans Pro"/>
              </a:rPr>
              <a:t>‹#›</a:t>
            </a:fld>
            <a:endParaRPr lang="en-US" sz="1400" b="0" u="none" strike="noStrike">
              <a:solidFill>
                <a:srgbClr val="41190D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3280" y="1928160"/>
            <a:ext cx="906840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6600" b="1" u="none" strike="noStrike">
                <a:solidFill>
                  <a:srgbClr val="FFFFFF"/>
                </a:solidFill>
                <a:effectLst/>
                <a:uFillTx/>
                <a:latin typeface="Source Sans Pro"/>
              </a:rPr>
              <a:t>Goosebot BMS Board Idea</a:t>
            </a:r>
          </a:p>
        </p:txBody>
      </p:sp>
      <p:sp>
        <p:nvSpPr>
          <p:cNvPr id="20" name="PlaceHolder 2"/>
          <p:cNvSpPr>
            <a:spLocks noGrp="1"/>
          </p:cNvSpPr>
          <p:nvPr>
            <p:ph type="subTitle"/>
          </p:nvPr>
        </p:nvSpPr>
        <p:spPr>
          <a:xfrm>
            <a:off x="503280" y="3510000"/>
            <a:ext cx="9068400" cy="1499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2800" b="0" u="none" strike="noStrike">
                <a:solidFill>
                  <a:srgbClr val="8E86AE"/>
                </a:solidFill>
                <a:effectLst/>
                <a:uFillTx/>
                <a:latin typeface="Source Sans Pro"/>
              </a:rPr>
              <a:t>Richard Carter</a:t>
            </a:r>
            <a:endParaRPr lang="en-US" sz="2800" b="0" u="none" strike="noStrike">
              <a:solidFill>
                <a:srgbClr val="E69ABA"/>
              </a:solidFill>
              <a:effectLst/>
              <a:uFillTx/>
              <a:latin typeface="Source Sans Pro"/>
            </a:endParaRPr>
          </a:p>
          <a:p>
            <a:pPr indent="0" algn="ctr">
              <a:buNone/>
            </a:pPr>
            <a:r>
              <a:rPr lang="en-US" sz="2800" b="0" u="none" strike="noStrike">
                <a:solidFill>
                  <a:srgbClr val="8E86AE"/>
                </a:solidFill>
                <a:effectLst/>
                <a:uFillTx/>
                <a:latin typeface="Source Sans Pro"/>
              </a:rPr>
              <a:t>EEL4312, 4/15/2026</a:t>
            </a:r>
            <a:endParaRPr lang="en-US" sz="2800" b="0" u="none" strike="noStrike">
              <a:solidFill>
                <a:srgbClr val="E69ABA"/>
              </a:solidFill>
              <a:effectLst/>
              <a:uFillTx/>
              <a:latin typeface="Source Sans Pr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03280" y="225360"/>
            <a:ext cx="906876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Design requirements</a:t>
            </a: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876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lstStyle/>
          <a:p>
            <a:pPr marL="432000" indent="-324000">
              <a:spcBef>
                <a:spcPts val="17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7-Segment display battery level indicator</a:t>
            </a:r>
          </a:p>
          <a:p>
            <a:pPr marL="432000" indent="-324000">
              <a:spcBef>
                <a:spcPts val="17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Automatic shutoff when battery voltage too low</a:t>
            </a:r>
          </a:p>
          <a:p>
            <a:pPr marL="432000" indent="-324000">
              <a:spcBef>
                <a:spcPts val="17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UART connection with SBC for communication</a:t>
            </a:r>
          </a:p>
          <a:p>
            <a:pPr marL="432000" indent="-324000">
              <a:spcBef>
                <a:spcPts val="17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Built in buck converter to run SBC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3280" y="225360"/>
            <a:ext cx="906876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Materials and method</a:t>
            </a: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370296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75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Powered by Arduino Nano</a:t>
            </a:r>
          </a:p>
          <a:p>
            <a:pPr marL="432000" indent="-324000">
              <a:spcBef>
                <a:spcPts val="175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Sense current using current shunt and voltage divider to measure voltage</a:t>
            </a:r>
          </a:p>
          <a:p>
            <a:pPr marL="432000" indent="-324000">
              <a:spcBef>
                <a:spcPts val="175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MOSFETs used to switch 12V and 5V rails off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1371600"/>
            <a:ext cx="2377440" cy="9144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Arduino Nano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297680" y="3291840"/>
            <a:ext cx="1097280" cy="640080"/>
          </a:xfrm>
          <a:prstGeom prst="rect">
            <a:avLst/>
          </a:prstGeom>
          <a:solidFill>
            <a:srgbClr val="111111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Source Sans Pro"/>
              </a:rPr>
              <a:t>Battery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Arrow: Right 26"/>
          <p:cNvSpPr/>
          <p:nvPr/>
        </p:nvSpPr>
        <p:spPr>
          <a:xfrm>
            <a:off x="5394960" y="3657600"/>
            <a:ext cx="914400" cy="365760"/>
          </a:xfrm>
          <a:prstGeom prst="rightArrow">
            <a:avLst>
              <a:gd name="adj1" fmla="val 50000"/>
              <a:gd name="adj2" fmla="val 62500"/>
            </a:avLst>
          </a:prstGeom>
          <a:solidFill>
            <a:srgbClr val="3465A4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309360" y="3566160"/>
            <a:ext cx="640080" cy="548640"/>
          </a:xfrm>
          <a:prstGeom prst="rect">
            <a:avLst/>
          </a:prstGeom>
          <a:solidFill>
            <a:srgbClr val="5983B0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/>
            <a:r>
              <a:rPr lang="en-US" sz="700" b="0" u="none" strike="noStrike">
                <a:solidFill>
                  <a:srgbClr val="FFFFFF"/>
                </a:solidFill>
                <a:effectLst/>
                <a:uFillTx/>
                <a:latin typeface="Source Sans Pro"/>
              </a:rPr>
              <a:t>Current Shunt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Straight Connector 28"/>
          <p:cNvSpPr/>
          <p:nvPr/>
        </p:nvSpPr>
        <p:spPr>
          <a:xfrm>
            <a:off x="6583680" y="3291840"/>
            <a:ext cx="0" cy="365760"/>
          </a:xfrm>
          <a:prstGeom prst="line">
            <a:avLst/>
          </a:prstGeom>
          <a:ln w="0">
            <a:solidFill>
              <a:srgbClr val="3465A4"/>
            </a:solidFill>
            <a:head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309360" y="2926080"/>
            <a:ext cx="640080" cy="365760"/>
          </a:xfrm>
          <a:prstGeom prst="rect">
            <a:avLst/>
          </a:prstGeom>
          <a:solidFill>
            <a:srgbClr val="5983B0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/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Source Sans Pro"/>
              </a:rPr>
              <a:t>Op-amp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Straight Connector 30"/>
          <p:cNvSpPr/>
          <p:nvPr/>
        </p:nvSpPr>
        <p:spPr>
          <a:xfrm flipV="1">
            <a:off x="6583680" y="2286000"/>
            <a:ext cx="0" cy="640080"/>
          </a:xfrm>
          <a:prstGeom prst="line">
            <a:avLst/>
          </a:prstGeom>
          <a:ln w="0"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7406640" y="3566160"/>
            <a:ext cx="822960" cy="548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/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12V </a:t>
            </a:r>
          </a:p>
          <a:p>
            <a:pPr algn="ctr"/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MOSFET </a:t>
            </a:r>
          </a:p>
          <a:p>
            <a:pPr algn="ctr"/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shut-off</a:t>
            </a:r>
          </a:p>
        </p:txBody>
      </p:sp>
      <p:sp>
        <p:nvSpPr>
          <p:cNvPr id="33" name="Straight Connector 32"/>
          <p:cNvSpPr/>
          <p:nvPr/>
        </p:nvSpPr>
        <p:spPr>
          <a:xfrm>
            <a:off x="6949440" y="3840480"/>
            <a:ext cx="457200" cy="0"/>
          </a:xfrm>
          <a:prstGeom prst="line">
            <a:avLst/>
          </a:prstGeom>
          <a:ln w="0"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5000" rIns="90000" bIns="-45000" anchor="ctr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7406640" y="2926080"/>
            <a:ext cx="822960" cy="4572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/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Buck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converter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traight Connector 34"/>
          <p:cNvSpPr/>
          <p:nvPr/>
        </p:nvSpPr>
        <p:spPr>
          <a:xfrm flipV="1">
            <a:off x="6949440" y="3108960"/>
            <a:ext cx="457200" cy="548640"/>
          </a:xfrm>
          <a:prstGeom prst="line">
            <a:avLst/>
          </a:prstGeom>
          <a:ln w="0"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traight Connector 35"/>
          <p:cNvSpPr/>
          <p:nvPr/>
        </p:nvSpPr>
        <p:spPr>
          <a:xfrm>
            <a:off x="8229600" y="3200400"/>
            <a:ext cx="274320" cy="0"/>
          </a:xfrm>
          <a:prstGeom prst="line">
            <a:avLst/>
          </a:prstGeom>
          <a:ln w="0"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5000" rIns="90000" bIns="-45000" anchor="ctr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8503920" y="2926080"/>
            <a:ext cx="822960" cy="4572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/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5V shut off</a:t>
            </a:r>
          </a:p>
        </p:txBody>
      </p:sp>
      <p:cxnSp>
        <p:nvCxnSpPr>
          <p:cNvPr id="38" name="Connector: Elbow 37"/>
          <p:cNvCxnSpPr>
            <a:stCxn id="36" idx="0"/>
            <a:endCxn id="25" idx="2"/>
          </p:cNvCxnSpPr>
          <p:nvPr/>
        </p:nvCxnSpPr>
        <p:spPr>
          <a:xfrm rot="16200000" flipV="1">
            <a:off x="7520760" y="2354400"/>
            <a:ext cx="914760" cy="777600"/>
          </a:xfrm>
          <a:prstGeom prst="bentConnector3">
            <a:avLst>
              <a:gd name="adj1" fmla="val 52913"/>
            </a:avLst>
          </a:prstGeom>
          <a:ln w="0">
            <a:solidFill>
              <a:srgbClr val="3465A4"/>
            </a:solidFill>
            <a:tailEnd type="triangle" w="med" len="med"/>
          </a:ln>
        </p:spPr>
      </p:cxnSp>
      <p:sp>
        <p:nvSpPr>
          <p:cNvPr id="39" name="TextBox 38"/>
          <p:cNvSpPr txBox="1"/>
          <p:nvPr/>
        </p:nvSpPr>
        <p:spPr>
          <a:xfrm>
            <a:off x="7223760" y="2024280"/>
            <a:ext cx="548640" cy="353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 anchorCtr="1">
            <a:spAutoFit/>
          </a:bodyPr>
          <a:lstStyle/>
          <a:p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5V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03920" y="3657600"/>
            <a:ext cx="914400" cy="36576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Outputs</a:t>
            </a:r>
          </a:p>
        </p:txBody>
      </p:sp>
      <p:sp>
        <p:nvSpPr>
          <p:cNvPr id="41" name="Straight Connector 40"/>
          <p:cNvSpPr/>
          <p:nvPr/>
        </p:nvSpPr>
        <p:spPr>
          <a:xfrm>
            <a:off x="8869680" y="3383280"/>
            <a:ext cx="0" cy="274320"/>
          </a:xfrm>
          <a:prstGeom prst="line">
            <a:avLst/>
          </a:prstGeom>
          <a:ln w="0"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traight Connector 41"/>
          <p:cNvSpPr/>
          <p:nvPr/>
        </p:nvSpPr>
        <p:spPr>
          <a:xfrm>
            <a:off x="8229600" y="3840480"/>
            <a:ext cx="274320" cy="0"/>
          </a:xfrm>
          <a:prstGeom prst="line">
            <a:avLst/>
          </a:prstGeom>
          <a:ln w="0"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5000" rIns="90000" bIns="-45000" anchor="ctr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595360" y="3566160"/>
            <a:ext cx="457200" cy="280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 anchorCtr="1">
            <a:spAutoFit/>
          </a:bodyPr>
          <a:lstStyle/>
          <a:p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5V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38160" y="3657600"/>
            <a:ext cx="457200" cy="515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 anchorCtr="1">
            <a:spAutoFit/>
          </a:bodyPr>
          <a:lstStyle/>
          <a:p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12V</a:t>
            </a:r>
          </a:p>
        </p:txBody>
      </p:sp>
      <p:sp>
        <p:nvSpPr>
          <p:cNvPr id="45" name="Straight Connector 44"/>
          <p:cNvSpPr/>
          <p:nvPr/>
        </p:nvSpPr>
        <p:spPr>
          <a:xfrm>
            <a:off x="7040880" y="3657600"/>
            <a:ext cx="365760" cy="0"/>
          </a:xfrm>
          <a:prstGeom prst="line">
            <a:avLst/>
          </a:prstGeom>
          <a:ln w="0"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5000" rIns="90000" bIns="-45000" anchor="ctr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traight Connector 45"/>
          <p:cNvSpPr/>
          <p:nvPr/>
        </p:nvSpPr>
        <p:spPr>
          <a:xfrm>
            <a:off x="7040880" y="2286000"/>
            <a:ext cx="0" cy="13716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traight Connector 46"/>
          <p:cNvSpPr/>
          <p:nvPr/>
        </p:nvSpPr>
        <p:spPr>
          <a:xfrm>
            <a:off x="7040880" y="2560320"/>
            <a:ext cx="1737360" cy="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5000" rIns="90000" bIns="-45000" anchor="ctr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traight Connector 47"/>
          <p:cNvSpPr/>
          <p:nvPr/>
        </p:nvSpPr>
        <p:spPr>
          <a:xfrm>
            <a:off x="8778240" y="2560320"/>
            <a:ext cx="0" cy="365760"/>
          </a:xfrm>
          <a:prstGeom prst="line">
            <a:avLst/>
          </a:prstGeom>
          <a:ln w="0"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9144000" y="1463040"/>
            <a:ext cx="731520" cy="4572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Display</a:t>
            </a:r>
          </a:p>
        </p:txBody>
      </p:sp>
      <p:sp>
        <p:nvSpPr>
          <p:cNvPr id="50" name="Straight Connector 49"/>
          <p:cNvSpPr/>
          <p:nvPr/>
        </p:nvSpPr>
        <p:spPr>
          <a:xfrm>
            <a:off x="8778240" y="1645920"/>
            <a:ext cx="365760" cy="0"/>
          </a:xfrm>
          <a:prstGeom prst="line">
            <a:avLst/>
          </a:prstGeom>
          <a:ln w="0"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5000" rIns="90000" bIns="-45000" anchor="ctr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traight Connector 50"/>
          <p:cNvSpPr/>
          <p:nvPr/>
        </p:nvSpPr>
        <p:spPr>
          <a:xfrm>
            <a:off x="8778240" y="2194560"/>
            <a:ext cx="457200" cy="0"/>
          </a:xfrm>
          <a:prstGeom prst="line">
            <a:avLst/>
          </a:prstGeom>
          <a:ln w="0"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5000" rIns="90000" bIns="-45000" anchor="ctr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9235440" y="2011680"/>
            <a:ext cx="640080" cy="36576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/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SBC UART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7040880" y="3383280"/>
            <a:ext cx="457200" cy="366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 anchorCtr="1">
            <a:spAutoFit/>
          </a:bodyPr>
          <a:lstStyle/>
          <a:p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Gate</a:t>
            </a:r>
          </a:p>
        </p:txBody>
      </p:sp>
      <p:pic>
        <p:nvPicPr>
          <p:cNvPr id="54" name="Picture 53"/>
          <p:cNvPicPr/>
          <p:nvPr/>
        </p:nvPicPr>
        <p:blipFill>
          <a:blip r:embed="rId2"/>
          <a:stretch/>
        </p:blipFill>
        <p:spPr>
          <a:xfrm>
            <a:off x="8504640" y="2834640"/>
            <a:ext cx="456480" cy="365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" name="TextBox 54"/>
          <p:cNvSpPr txBox="1"/>
          <p:nvPr/>
        </p:nvSpPr>
        <p:spPr>
          <a:xfrm>
            <a:off x="6766560" y="2103120"/>
            <a:ext cx="457200" cy="250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 anchorCtr="1">
            <a:spAutoFit/>
          </a:bodyPr>
          <a:lstStyle/>
          <a:p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D2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0" y="2103120"/>
            <a:ext cx="365760" cy="250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 anchorCtr="1">
            <a:spAutoFit/>
          </a:bodyPr>
          <a:lstStyle/>
          <a:p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A0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46720" y="1897920"/>
            <a:ext cx="822960" cy="570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 anchorCtr="1">
            <a:spAutoFit/>
          </a:bodyPr>
          <a:lstStyle/>
          <a:p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TX&amp;RX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46720" y="1176120"/>
            <a:ext cx="822960" cy="941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 anchorCtr="1">
            <a:spAutoFit/>
          </a:bodyPr>
          <a:lstStyle/>
          <a:p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D3-13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43600" y="4114800"/>
            <a:ext cx="3383280" cy="378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 anchorCtr="1">
            <a:spAutoFit/>
          </a:bodyPr>
          <a:lstStyle/>
          <a:p>
            <a:pPr algn="ctr"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Circuit Block Diagram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503280" y="421761"/>
            <a:ext cx="9068760" cy="55399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4000" b="1" u="none" strike="noStrike" dirty="0">
                <a:solidFill>
                  <a:srgbClr val="000000"/>
                </a:solidFill>
                <a:effectLst/>
                <a:uFillTx/>
                <a:latin typeface="Source Sans Pro"/>
              </a:rPr>
              <a:t>Materials and Method, continued (BOM)</a:t>
            </a:r>
          </a:p>
        </p:txBody>
      </p:sp>
      <p:graphicFrame>
        <p:nvGraphicFramePr>
          <p:cNvPr id="61" name="Table 60"/>
          <p:cNvGraphicFramePr/>
          <p:nvPr/>
        </p:nvGraphicFramePr>
        <p:xfrm>
          <a:off x="503280" y="1325880"/>
          <a:ext cx="9068760" cy="3116880"/>
        </p:xfrm>
        <a:graphic>
          <a:graphicData uri="http://schemas.openxmlformats.org/drawingml/2006/table">
            <a:tbl>
              <a:tblPr/>
              <a:tblGrid>
                <a:gridCol w="7931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6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632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ource Sans Pro"/>
                        </a:rPr>
                        <a:t>Item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B7B3CA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ource Sans Pro"/>
                        </a:rPr>
                        <a:t>Quantity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B7B3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32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ource Sans Pro"/>
                        </a:rPr>
                        <a:t>Arduino Nano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ource Sans Pro"/>
                        </a:rPr>
                        <a:t>1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32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ource Sans Pro"/>
                        </a:rPr>
                        <a:t>Buck Converter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ource Sans Pro"/>
                        </a:rPr>
                        <a:t>1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32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ource Sans Pro"/>
                        </a:rPr>
                        <a:t>MOSFET (IRF3205)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ource Sans Pro"/>
                        </a:rPr>
                        <a:t>2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32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ource Sans Pro"/>
                        </a:rPr>
                        <a:t>7 Segment Display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ource Sans Pro"/>
                        </a:rPr>
                        <a:t>1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632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ource Sans Pro"/>
                        </a:rPr>
                        <a:t>Opamp (LM358)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ource Sans Pro"/>
                        </a:rPr>
                        <a:t>1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632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ource Sans Pro"/>
                        </a:rPr>
                        <a:t>Resistor (1</a:t>
                      </a: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ource Sans Pro"/>
                          <a:ea typeface="Times New Roman"/>
                        </a:rPr>
                        <a:t>Ω)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Source Sans Pro"/>
                      </a:endParaRP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ource Sans Pro"/>
                        </a:rPr>
                        <a:t>1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632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ource Sans Pro"/>
                        </a:rPr>
                        <a:t>Resistors (220</a:t>
                      </a: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ource Sans Pro"/>
                          <a:ea typeface="Times New Roman"/>
                        </a:rPr>
                        <a:t>Ω</a:t>
                      </a: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ource Sans Pro"/>
                        </a:rPr>
                        <a:t>)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ource Sans Pro"/>
                        </a:rPr>
                        <a:t>3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632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ource Sans Pro"/>
                        </a:rPr>
                        <a:t>Resistors (Values TBD)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ource Sans Pro"/>
                        </a:rPr>
                        <a:t>2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503280" y="225360"/>
            <a:ext cx="906876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Testing Method</a:t>
            </a: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876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lstStyle/>
          <a:p>
            <a:pPr marL="432000" indent="-324000">
              <a:spcBef>
                <a:spcPts val="175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The circuit will be tested on a Goosebot</a:t>
            </a:r>
          </a:p>
          <a:p>
            <a:pPr marL="432000" indent="-324000">
              <a:spcBef>
                <a:spcPts val="175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The battery will go from fully charged to dead</a:t>
            </a:r>
          </a:p>
          <a:p>
            <a:pPr marL="864000" lvl="1" indent="-324000">
              <a:spcBef>
                <a:spcPts val="1123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Demonstrates automatic shut-off behavior</a:t>
            </a:r>
          </a:p>
          <a:p>
            <a:pPr marL="432000" indent="-324000">
              <a:spcBef>
                <a:spcPts val="175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UART communications will be tested during this time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503280" y="225360"/>
            <a:ext cx="906876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Timeline</a:t>
            </a:r>
          </a:p>
        </p:txBody>
      </p:sp>
      <p:sp>
        <p:nvSpPr>
          <p:cNvPr id="65" name="Straight Connector 64"/>
          <p:cNvSpPr/>
          <p:nvPr/>
        </p:nvSpPr>
        <p:spPr>
          <a:xfrm>
            <a:off x="182880" y="3017520"/>
            <a:ext cx="9784080" cy="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5000" rIns="90000" bIns="-45000" anchor="ctr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traight Connector 65"/>
          <p:cNvSpPr/>
          <p:nvPr/>
        </p:nvSpPr>
        <p:spPr>
          <a:xfrm flipV="1">
            <a:off x="640080" y="2377440"/>
            <a:ext cx="0" cy="640080"/>
          </a:xfrm>
          <a:prstGeom prst="line">
            <a:avLst/>
          </a:prstGeom>
          <a:ln w="0"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traight Connector 66"/>
          <p:cNvSpPr/>
          <p:nvPr/>
        </p:nvSpPr>
        <p:spPr>
          <a:xfrm>
            <a:off x="3749040" y="3017520"/>
            <a:ext cx="0" cy="731520"/>
          </a:xfrm>
          <a:prstGeom prst="line">
            <a:avLst/>
          </a:prstGeom>
          <a:ln w="0"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traight Connector 67"/>
          <p:cNvSpPr/>
          <p:nvPr/>
        </p:nvSpPr>
        <p:spPr>
          <a:xfrm flipV="1">
            <a:off x="5577840" y="2377440"/>
            <a:ext cx="0" cy="640080"/>
          </a:xfrm>
          <a:prstGeom prst="line">
            <a:avLst/>
          </a:prstGeom>
          <a:ln w="0"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traight Connector 68"/>
          <p:cNvSpPr/>
          <p:nvPr/>
        </p:nvSpPr>
        <p:spPr>
          <a:xfrm>
            <a:off x="5486400" y="3017520"/>
            <a:ext cx="0" cy="731520"/>
          </a:xfrm>
          <a:prstGeom prst="line">
            <a:avLst/>
          </a:prstGeom>
          <a:ln w="0"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traight Connector 69"/>
          <p:cNvSpPr/>
          <p:nvPr/>
        </p:nvSpPr>
        <p:spPr>
          <a:xfrm flipV="1">
            <a:off x="6766560" y="2377440"/>
            <a:ext cx="0" cy="640080"/>
          </a:xfrm>
          <a:prstGeom prst="line">
            <a:avLst/>
          </a:prstGeom>
          <a:ln w="0"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traight Connector 70"/>
          <p:cNvSpPr/>
          <p:nvPr/>
        </p:nvSpPr>
        <p:spPr>
          <a:xfrm>
            <a:off x="9144000" y="3017520"/>
            <a:ext cx="0" cy="731520"/>
          </a:xfrm>
          <a:prstGeom prst="line">
            <a:avLst/>
          </a:prstGeom>
          <a:ln w="0"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7680960" y="3749040"/>
            <a:ext cx="2011680" cy="1097280"/>
          </a:xfrm>
          <a:prstGeom prst="rect">
            <a:avLst/>
          </a:prstGeom>
          <a:solidFill>
            <a:srgbClr val="069A2E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Source Sans Pro"/>
              </a:rPr>
              <a:t>4/20/26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Source Sans Pro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Source Sans Pro"/>
              </a:rPr>
              <a:t>Finished Product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1440" y="1280160"/>
            <a:ext cx="2011680" cy="1097280"/>
          </a:xfrm>
          <a:prstGeom prst="rect">
            <a:avLst/>
          </a:prstGeom>
          <a:solidFill>
            <a:srgbClr val="55308D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Source Sans Pro"/>
              </a:rPr>
              <a:t>4/9/26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Source Sans Pro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Source Sans Pro"/>
              </a:rPr>
              <a:t>Specifications and </a:t>
            </a: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Source Sans Pro"/>
              </a:rPr>
              <a:t>design ideation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011680" y="3749040"/>
            <a:ext cx="2011680" cy="1097280"/>
          </a:xfrm>
          <a:prstGeom prst="rect">
            <a:avLst/>
          </a:prstGeom>
          <a:solidFill>
            <a:srgbClr val="6B5E9B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Source Sans Pro"/>
              </a:rPr>
              <a:t>4/13/26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Source Sans Pro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Source Sans Pro"/>
              </a:rPr>
              <a:t>Parts ordering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657600" y="1280160"/>
            <a:ext cx="2011680" cy="1097280"/>
          </a:xfrm>
          <a:prstGeom prst="rect">
            <a:avLst/>
          </a:prstGeom>
          <a:solidFill>
            <a:srgbClr val="50938A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Source Sans Pro"/>
              </a:rPr>
              <a:t>4/15/26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Source Sans Pro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Source Sans Pro"/>
              </a:rPr>
              <a:t>Completion of </a:t>
            </a: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Source Sans Pro"/>
              </a:rPr>
              <a:t>firware design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834880" y="1270440"/>
            <a:ext cx="2011680" cy="1097280"/>
          </a:xfrm>
          <a:prstGeom prst="rect">
            <a:avLst/>
          </a:prstGeom>
          <a:solidFill>
            <a:srgbClr val="168253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Source Sans Pro"/>
              </a:rPr>
              <a:t>4/16/26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Source Sans Pro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Source Sans Pro"/>
              </a:rPr>
              <a:t>Design testing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297680" y="3749040"/>
            <a:ext cx="2011680" cy="1097280"/>
          </a:xfrm>
          <a:prstGeom prst="rect">
            <a:avLst/>
          </a:prstGeom>
          <a:solidFill>
            <a:srgbClr val="5983B0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Source Sans Pro"/>
              </a:rPr>
              <a:t>4/15/26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Source Sans Pro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Source Sans Pro"/>
              </a:rPr>
              <a:t>Prototype</a:t>
            </a: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Source Sans Pro"/>
              </a:rPr>
              <a:t>circuit construction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1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1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2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1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2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8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1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2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1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503280" y="1972440"/>
            <a:ext cx="9068400" cy="105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6600" b="1" u="none" strike="noStrike">
                <a:solidFill>
                  <a:srgbClr val="FFFFFF"/>
                </a:solidFill>
                <a:effectLst/>
                <a:uFillTx/>
                <a:latin typeface="Source Sans Pro"/>
              </a:rPr>
              <a:t>Thank you!</a:t>
            </a:r>
          </a:p>
        </p:txBody>
      </p:sp>
      <p:sp>
        <p:nvSpPr>
          <p:cNvPr id="79" name="PlaceHolder 2"/>
          <p:cNvSpPr>
            <a:spLocks noGrp="1"/>
          </p:cNvSpPr>
          <p:nvPr>
            <p:ph type="subTitle"/>
          </p:nvPr>
        </p:nvSpPr>
        <p:spPr>
          <a:xfrm>
            <a:off x="503280" y="3510000"/>
            <a:ext cx="9068400" cy="1499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2800" b="0" u="none" strike="noStrike">
              <a:solidFill>
                <a:srgbClr val="E69ABA"/>
              </a:solidFill>
              <a:effectLst/>
              <a:uFillTx/>
              <a:latin typeface="Source Sans Pr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198</Words>
  <Application>Microsoft Office PowerPoint</Application>
  <PresentationFormat>Custom</PresentationFormat>
  <Paragraphs>75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OpenSymbol</vt:lpstr>
      <vt:lpstr>Source Sans Pro</vt:lpstr>
      <vt:lpstr>Symbol</vt:lpstr>
      <vt:lpstr>Times New Roman</vt:lpstr>
      <vt:lpstr>Wingdings</vt:lpstr>
      <vt:lpstr>Office</vt:lpstr>
      <vt:lpstr>Office</vt:lpstr>
      <vt:lpstr>Goosebot BMS Board Idea</vt:lpstr>
      <vt:lpstr>Design requirements</vt:lpstr>
      <vt:lpstr>Materials and method</vt:lpstr>
      <vt:lpstr>Materials and Method, continued (BOM)</vt:lpstr>
      <vt:lpstr>Testing Method</vt:lpstr>
      <vt:lpstr>Timeline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PLUG</dc:title>
  <dc:subject/>
  <dc:creator/>
  <dc:description/>
  <cp:lastModifiedBy>Richard Carter</cp:lastModifiedBy>
  <cp:revision>2</cp:revision>
  <dcterms:created xsi:type="dcterms:W3CDTF">2026-04-13T14:20:54Z</dcterms:created>
  <dcterms:modified xsi:type="dcterms:W3CDTF">2026-04-14T02:23:05Z</dcterms:modified>
  <dc:language>en-US</dc:language>
</cp:coreProperties>
</file>