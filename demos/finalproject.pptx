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0077450" cy="5668963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3280" y="1972440"/>
            <a:ext cx="9068400" cy="105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6600" b="1" u="none" strike="noStrike">
              <a:solidFill>
                <a:srgbClr val="ffffff"/>
              </a:solidFill>
              <a:effectLst/>
              <a:uFillTx/>
              <a:latin typeface="Source Sans Pro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503280" y="3510000"/>
            <a:ext cx="9068400" cy="149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2800" b="0" u="none" strike="noStrike">
              <a:solidFill>
                <a:srgbClr val="e69aba"/>
              </a:solidFill>
              <a:effectLst/>
              <a:uFillTx/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6A0A47-7AD0-4060-8788-FB6FD701211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3280" y="1972440"/>
            <a:ext cx="9068400" cy="105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6600" b="1" u="none" strike="noStrike">
              <a:solidFill>
                <a:srgbClr val="ffffff"/>
              </a:solidFill>
              <a:effectLst/>
              <a:uFillTx/>
              <a:latin typeface="Source Sans Pro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503280" y="3510000"/>
            <a:ext cx="9068400" cy="149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1409"/>
              </a:spcBef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141749-9AC5-43FD-ACE1-78C676F9FB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3280" y="1972440"/>
            <a:ext cx="9068400" cy="105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6600" b="1" u="none" strike="noStrike">
              <a:solidFill>
                <a:srgbClr val="ffffff"/>
              </a:solidFill>
              <a:effectLst/>
              <a:uFillTx/>
              <a:latin typeface="Source Sans Pro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subTitle"/>
          </p:nvPr>
        </p:nvSpPr>
        <p:spPr>
          <a:xfrm>
            <a:off x="503280" y="3510000"/>
            <a:ext cx="9068400" cy="149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2800" b="0" u="none" strike="noStrike">
              <a:solidFill>
                <a:srgbClr val="e69aba"/>
              </a:solidFill>
              <a:effectLst/>
              <a:uFillTx/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BA91A7-3BF9-4E49-A14F-EEA725C3EC3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6876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Click to edit the title text format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87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7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Click to edit the outline text format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  <a:p>
            <a:pPr marL="864000" lvl="1" indent="-324000">
              <a:spcBef>
                <a:spcPts val="112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  <a:p>
            <a:pPr marL="1296000" lvl="2" indent="-288000">
              <a:spcBef>
                <a:spcPts val="8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  <a:p>
            <a:pPr marL="1728000" lvl="3" indent="-216000">
              <a:spcBef>
                <a:spcPts val="55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  <a:p>
            <a:pPr marL="2160000" lvl="4" indent="-216000">
              <a:spcBef>
                <a:spcPts val="2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  <a:p>
            <a:pPr marL="2592000" lvl="5" indent="-216000">
              <a:spcBef>
                <a:spcPts val="2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  <a:p>
            <a:pPr marL="3024000" lvl="6" indent="-216000">
              <a:spcBef>
                <a:spcPts val="27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>
          <a:xfrm>
            <a:off x="3445560" y="5164200"/>
            <a:ext cx="319392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999999"/>
                </a:solidFill>
                <a:effectLst/>
                <a:uFillTx/>
                <a:latin typeface="Source Sans Pro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999999"/>
                </a:solidFill>
                <a:effectLst/>
                <a:uFillTx/>
                <a:latin typeface="Source Sans Pro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360"/>
            <a:ext cx="10076760" cy="228600"/>
          </a:xfrm>
          <a:prstGeom prst="rect">
            <a:avLst/>
          </a:prstGeom>
          <a:solidFill>
            <a:srgbClr val="55308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dt" idx="2"/>
          </p:nvPr>
        </p:nvSpPr>
        <p:spPr>
          <a:xfrm>
            <a:off x="503280" y="5164200"/>
            <a:ext cx="23472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999999"/>
                </a:solidFill>
                <a:effectLst/>
                <a:uFillTx/>
                <a:latin typeface="Source Sans Pro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999999"/>
                </a:solidFill>
                <a:effectLst/>
                <a:uFillTx/>
                <a:latin typeface="Source Sans Pro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7224480" y="5164200"/>
            <a:ext cx="23472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999999"/>
                </a:solidFill>
                <a:effectLst/>
                <a:uFillTx/>
                <a:latin typeface="Source Sans Pro"/>
              </a:defRPr>
            </a:lvl1pPr>
          </a:lstStyle>
          <a:p>
            <a:pPr indent="0" algn="r">
              <a:buNone/>
            </a:pPr>
            <a:fld id="{949DAA06-9CFD-479D-8C3C-BB741AA5F6FD}" type="slidenum">
              <a:rPr lang="en-US" sz="1400" b="0" u="none" strike="noStrike">
                <a:solidFill>
                  <a:srgbClr val="999999"/>
                </a:solidFill>
                <a:effectLst/>
                <a:uFillTx/>
                <a:latin typeface="Source Sans Pro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55308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3280" y="2025720"/>
            <a:ext cx="90684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6600" b="1" u="none" strike="noStrike">
                <a:solidFill>
                  <a:srgbClr val="ffffff"/>
                </a:solidFill>
                <a:effectLst/>
                <a:uFillTx/>
                <a:latin typeface="Source Sans Pro"/>
              </a:rPr>
              <a:t>Click to edit the title text format</a:t>
            </a:r>
            <a:endParaRPr lang="en-US" sz="6600" b="1" u="none" strike="noStrike">
              <a:solidFill>
                <a:srgbClr val="ffffff"/>
              </a:solidFill>
              <a:effectLst/>
              <a:uFillTx/>
              <a:latin typeface="Source Sans Pro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03280" y="3510000"/>
            <a:ext cx="9068400" cy="149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7500" lnSpcReduction="19999"/>
          </a:bodyPr>
          <a:p>
            <a:pPr marL="432000" indent="-324000" algn="ctr">
              <a:spcBef>
                <a:spcPts val="1409"/>
              </a:spcBef>
              <a:buClr>
                <a:srgbClr val="ffffff"/>
              </a:buClr>
              <a:buFont typeface="OpenSymbol"/>
              <a:buAutoNum type="arabicParenR"/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Source Sans Pro"/>
              </a:rPr>
              <a:t>Click to edit the outline text format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Source Sans Pro"/>
            </a:endParaRPr>
          </a:p>
          <a:p>
            <a:pPr marL="864000" lvl="1" indent="-324000" algn="ctr">
              <a:spcBef>
                <a:spcPts val="1123"/>
              </a:spcBef>
              <a:buClr>
                <a:srgbClr val="ffffff"/>
              </a:buClr>
              <a:buFont typeface="OpenSymbol"/>
              <a:buAutoNum type="arabicParenR"/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Source Sans Pro"/>
              </a:rPr>
              <a:t>Second Outline Level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Source Sans Pro"/>
            </a:endParaRPr>
          </a:p>
          <a:p>
            <a:pPr marL="1296000" lvl="2" indent="-288000" algn="ctr">
              <a:spcBef>
                <a:spcPts val="842"/>
              </a:spcBef>
              <a:buClr>
                <a:srgbClr val="ffffff"/>
              </a:buClr>
              <a:buFont typeface="OpenSymbol"/>
              <a:buAutoNum type="arabicParenR"/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Source Sans Pro"/>
              </a:rPr>
              <a:t>Third Outline Level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Source Sans Pro"/>
            </a:endParaRPr>
          </a:p>
          <a:p>
            <a:pPr marL="1728000" lvl="3" indent="-216000" algn="ctr">
              <a:spcBef>
                <a:spcPts val="558"/>
              </a:spcBef>
              <a:buClr>
                <a:srgbClr val="ffffff"/>
              </a:buClr>
              <a:buFont typeface="OpenSymbol"/>
              <a:buAutoNum type="arabicParenR"/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Source Sans Pro"/>
              </a:rPr>
              <a:t>Fourth Outline Level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Source Sans Pro"/>
            </a:endParaRPr>
          </a:p>
          <a:p>
            <a:pPr marL="2160000" lvl="4" indent="-216000" algn="ctr">
              <a:spcBef>
                <a:spcPts val="275"/>
              </a:spcBef>
              <a:buClr>
                <a:srgbClr val="ffffff"/>
              </a:buClr>
              <a:buFont typeface="OpenSymbol"/>
              <a:buAutoNum type="arabicParenR"/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Source Sans Pro"/>
              </a:rPr>
              <a:t>Fifth Outline Level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Source Sans Pro"/>
            </a:endParaRPr>
          </a:p>
          <a:p>
            <a:pPr marL="2592000" lvl="5" indent="-216000" algn="ctr">
              <a:spcBef>
                <a:spcPts val="275"/>
              </a:spcBef>
              <a:buClr>
                <a:srgbClr val="ffffff"/>
              </a:buClr>
              <a:buFont typeface="OpenSymbol"/>
              <a:buAutoNum type="arabicParenR"/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Source Sans Pro"/>
              </a:rPr>
              <a:t>Sixth Outline Level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Source Sans Pro"/>
            </a:endParaRPr>
          </a:p>
          <a:p>
            <a:pPr marL="3024000" lvl="6" indent="-216000" algn="ctr">
              <a:spcBef>
                <a:spcPts val="275"/>
              </a:spcBef>
              <a:buClr>
                <a:srgbClr val="ffffff"/>
              </a:buClr>
              <a:buFont typeface="OpenSymbol"/>
              <a:buAutoNum type="arabicParenR"/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Source Sans Pro"/>
              </a:rPr>
              <a:t>Seventh Outline Level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Source Sans Pro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4"/>
          </p:nvPr>
        </p:nvSpPr>
        <p:spPr>
          <a:xfrm>
            <a:off x="503280" y="5164200"/>
            <a:ext cx="23472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41190d"/>
                </a:solidFill>
                <a:effectLst/>
                <a:uFillTx/>
                <a:latin typeface="Source Sans Pro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41190d"/>
                </a:solidFill>
                <a:effectLst/>
                <a:uFillTx/>
                <a:latin typeface="Source Sans Pro"/>
              </a:rPr>
              <a:t>&lt;date/time&gt;</a:t>
            </a:r>
            <a:endParaRPr lang="en-US" sz="1400" b="0" u="none" strike="noStrike">
              <a:solidFill>
                <a:srgbClr val="41190d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5"/>
          </p:nvPr>
        </p:nvSpPr>
        <p:spPr>
          <a:xfrm>
            <a:off x="3445560" y="5164200"/>
            <a:ext cx="319392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41190d"/>
                </a:solidFill>
                <a:effectLst/>
                <a:uFillTx/>
                <a:latin typeface="Source Sans Pro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41190d"/>
                </a:solidFill>
                <a:effectLst/>
                <a:uFillTx/>
                <a:latin typeface="Source Sans Pro"/>
              </a:rPr>
              <a:t>&lt;footer&gt;</a:t>
            </a:r>
            <a:endParaRPr lang="en-US" sz="1400" b="0" u="none" strike="noStrike">
              <a:solidFill>
                <a:srgbClr val="41190d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6"/>
          </p:nvPr>
        </p:nvSpPr>
        <p:spPr>
          <a:xfrm>
            <a:off x="7224480" y="5164200"/>
            <a:ext cx="23472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41190d"/>
                </a:solidFill>
                <a:effectLst/>
                <a:uFillTx/>
                <a:latin typeface="Source Sans Pro"/>
              </a:defRPr>
            </a:lvl1pPr>
          </a:lstStyle>
          <a:p>
            <a:pPr indent="0" algn="r">
              <a:buNone/>
            </a:pPr>
            <a:fld id="{9885F01A-C043-418D-BFAC-94CEF4F0EAF9}" type="slidenum">
              <a:rPr lang="en-US" sz="1400" b="0" u="none" strike="noStrike">
                <a:solidFill>
                  <a:srgbClr val="41190d"/>
                </a:solidFill>
                <a:effectLst/>
                <a:uFillTx/>
                <a:latin typeface="Source Sans Pro"/>
              </a:rPr>
              <a:t>&lt;number&gt;</a:t>
            </a:fld>
            <a:endParaRPr lang="en-US" sz="1400" b="0" u="none" strike="noStrike">
              <a:solidFill>
                <a:srgbClr val="41190d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3280" y="1928160"/>
            <a:ext cx="906840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US" sz="6600" b="1" u="none" strike="noStrike">
                <a:solidFill>
                  <a:srgbClr val="ffffff"/>
                </a:solidFill>
                <a:effectLst/>
                <a:uFillTx/>
                <a:latin typeface="Source Sans Pro"/>
              </a:rPr>
              <a:t>Goosebot BMS Board</a:t>
            </a:r>
            <a:endParaRPr lang="en-US" sz="6600" b="1" u="none" strike="noStrike">
              <a:solidFill>
                <a:srgbClr val="ffffff"/>
              </a:solidFill>
              <a:effectLst/>
              <a:uFillTx/>
              <a:latin typeface="Source Sans Pro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ubTitle"/>
          </p:nvPr>
        </p:nvSpPr>
        <p:spPr>
          <a:xfrm>
            <a:off x="503280" y="3510000"/>
            <a:ext cx="9068400" cy="149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2800" b="0" u="none" strike="noStrike">
                <a:solidFill>
                  <a:srgbClr val="8e86ae"/>
                </a:solidFill>
                <a:effectLst/>
                <a:uFillTx/>
                <a:latin typeface="Source Sans Pro"/>
              </a:rPr>
              <a:t>Richard Carter</a:t>
            </a:r>
            <a:endParaRPr lang="en-US" sz="2800" b="0" u="none" strike="noStrike">
              <a:solidFill>
                <a:srgbClr val="e69aba"/>
              </a:solidFill>
              <a:effectLst/>
              <a:uFillTx/>
              <a:latin typeface="Source Sans Pro"/>
            </a:endParaRPr>
          </a:p>
          <a:p>
            <a:pPr indent="0" algn="ctr">
              <a:buNone/>
            </a:pPr>
            <a:r>
              <a:rPr lang="en-US" sz="2800" b="0" u="none" strike="noStrike">
                <a:solidFill>
                  <a:srgbClr val="8e86ae"/>
                </a:solidFill>
                <a:effectLst/>
                <a:uFillTx/>
                <a:latin typeface="Source Sans Pro"/>
              </a:rPr>
              <a:t>4/21/2026</a:t>
            </a:r>
            <a:endParaRPr lang="en-US" sz="2800" b="0" u="none" strike="noStrike">
              <a:solidFill>
                <a:srgbClr val="e69aba"/>
              </a:solidFill>
              <a:effectLst/>
              <a:uFillTx/>
              <a:latin typeface="Source Sans Pr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6876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Introduction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87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spcBef>
                <a:spcPts val="17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Battery Management systems are used to control power delivered by battery-powered devices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  <a:p>
            <a:pPr marL="432000" indent="-324000">
              <a:spcBef>
                <a:spcPts val="17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Goosebots do not presently have such circuitry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  <a:p>
            <a:pPr marL="432000" indent="-324000">
              <a:spcBef>
                <a:spcPts val="17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The design shown here aims to provide this circuit.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6876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Materials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</p:txBody>
      </p:sp>
      <p:graphicFrame>
        <p:nvGraphicFramePr>
          <p:cNvPr id="24" name=""/>
          <p:cNvGraphicFramePr/>
          <p:nvPr/>
        </p:nvGraphicFramePr>
        <p:xfrm>
          <a:off x="1192680" y="1293480"/>
          <a:ext cx="7310880" cy="3727080"/>
        </p:xfrm>
        <a:graphic>
          <a:graphicData uri="http://schemas.openxmlformats.org/drawingml/2006/table">
            <a:tbl>
              <a:tblPr/>
              <a:tblGrid>
                <a:gridCol w="5792400"/>
                <a:gridCol w="1518840"/>
              </a:tblGrid>
              <a:tr h="48096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Item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Source Sans Pr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Quantity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Source Sans Pr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Arduino Nano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Source Sans Pr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Source Sans Pr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Buck Converter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Source Sans Pr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Source Sans Pr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MOSFET (IRF3205)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Source Sans Pr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Source Sans Pr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7 Segment Display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Source Sans Pr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Source Sans Pr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Opamp (LM358)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Source Sans Pr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Source Sans Pr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Resistor (1Ω)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Source Sans Pr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Source Sans Pr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Resistors (220Ω)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Source Sans Pr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Source Sans Pr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Resistor (1K</a:t>
                      </a: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  <a:ea typeface="Liberation Serif;Times New Roman"/>
                        </a:rPr>
                        <a:t>Ω</a:t>
                      </a: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Source Sans Pr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Source Sans Pr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Resistor (2K</a:t>
                      </a: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  <a:ea typeface="Liberation Serif;Times New Roman"/>
                        </a:rPr>
                        <a:t>Ω)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Source Sans Pr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just"/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Source Sans Pr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6876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Design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52592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7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Design powered by Arduino Nano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  <a:p>
            <a:pPr marL="432000" indent="-324000">
              <a:spcBef>
                <a:spcPts val="17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Voltage measured by voltage divider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  <a:p>
            <a:pPr marL="432000" indent="-324000">
              <a:spcBef>
                <a:spcPts val="17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7 segment display to communicate state of charge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</p:txBody>
      </p:sp>
      <p:pic>
        <p:nvPicPr>
          <p:cNvPr id="27" name=""/>
          <p:cNvPicPr/>
          <p:nvPr/>
        </p:nvPicPr>
        <p:blipFill>
          <a:blip r:embed="rId1"/>
          <a:stretch/>
        </p:blipFill>
        <p:spPr>
          <a:xfrm>
            <a:off x="5425920" y="1303200"/>
            <a:ext cx="4358160" cy="3268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6876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Testing Method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87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spcBef>
                <a:spcPts val="17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To simulate batteries, a DC supply was connected to the input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  <a:p>
            <a:pPr marL="864000" lvl="1" indent="-324000">
              <a:spcBef>
                <a:spcPts val="112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Testing on actual Goosebots could not be done in time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  <a:p>
            <a:pPr marL="432000" indent="-324000">
              <a:spcBef>
                <a:spcPts val="17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Voltage was varied from 13V to 9V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  <a:p>
            <a:pPr marL="432000" indent="-324000">
              <a:spcBef>
                <a:spcPts val="17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Switching behavior, state of charge display and Arduino serial ports were monitored.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6876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Testing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</p:txBody>
      </p:sp>
      <p:graphicFrame>
        <p:nvGraphicFramePr>
          <p:cNvPr id="31" name=""/>
          <p:cNvGraphicFramePr/>
          <p:nvPr/>
        </p:nvGraphicFramePr>
        <p:xfrm>
          <a:off x="4754880" y="1023480"/>
          <a:ext cx="4758840" cy="2019240"/>
        </p:xfrm>
        <a:graphic>
          <a:graphicData uri="http://schemas.openxmlformats.org/drawingml/2006/table">
            <a:tbl>
              <a:tblPr/>
              <a:tblGrid>
                <a:gridCol w="1586520"/>
                <a:gridCol w="1586520"/>
                <a:gridCol w="1586160"/>
              </a:tblGrid>
              <a:tr h="93744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Input Voltage (V)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Source Sans Pr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Arduino Reported Voltage (V)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Source Sans Pr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Reported State of Charge (%)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Source Sans Pr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07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9.95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Source Sans Pr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9.60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Source Sans Pr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Source Sans Pr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07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11.6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Source Sans Pr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11.2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Source Sans Pr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49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Source Sans Pr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07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13.0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Source Sans Pr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13.13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Source Sans Pr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100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Source Sans Pr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32" name=""/>
          <p:cNvGraphicFramePr/>
          <p:nvPr/>
        </p:nvGraphicFramePr>
        <p:xfrm>
          <a:off x="4754880" y="3383280"/>
          <a:ext cx="4712400" cy="1370160"/>
        </p:xfrm>
        <a:graphic>
          <a:graphicData uri="http://schemas.openxmlformats.org/drawingml/2006/table">
            <a:tbl>
              <a:tblPr/>
              <a:tblGrid>
                <a:gridCol w="1571040"/>
                <a:gridCol w="1571040"/>
                <a:gridCol w="1570680"/>
              </a:tblGrid>
              <a:tr h="64908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Input Voltage (V)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Source Sans Pr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Output Voltage (V)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Source Sans Pr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Arduino pin voltage (V)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Source Sans Pr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07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11.5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Source Sans Pr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7.936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Source Sans Pr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4.835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Source Sans Pr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6072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9.88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Source Sans Pr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8.339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Source Sans Pr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Source Sans Pro"/>
                        </a:rPr>
                        <a:t>0.98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Source Sans Pro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3" name=""/>
          <p:cNvSpPr txBox="1"/>
          <p:nvPr/>
        </p:nvSpPr>
        <p:spPr>
          <a:xfrm>
            <a:off x="5577840" y="2963880"/>
            <a:ext cx="374904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State Of Charge vs. Voltage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5486400" y="4753440"/>
            <a:ext cx="374904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Automatic shut-off behavior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182880" y="914400"/>
            <a:ext cx="4114800" cy="4389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Core functionality (voltage measurement) worked largely as expected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Automatic shut-off did not work, MOSFETS were not properly switched.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6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Future iterations may need a MOSFET gate driver.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3280" y="225360"/>
            <a:ext cx="906876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Conclusion</a:t>
            </a:r>
            <a:endParaRPr lang="en-US" sz="4400" b="1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87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7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Voltage monitoring and computer communication was successfully achieved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  <a:p>
            <a:pPr marL="432000" indent="-324000">
              <a:spcBef>
                <a:spcPts val="175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Some elements were not functional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  <a:p>
            <a:pPr marL="864000" lvl="1" indent="-324000">
              <a:spcBef>
                <a:spcPts val="112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Current monitoring not fully built in software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  <a:p>
            <a:pPr marL="864000" lvl="1" indent="-324000">
              <a:spcBef>
                <a:spcPts val="112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Source Sans Pro"/>
              </a:rPr>
              <a:t>Battery shutoff functionality was not working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Source Sans Pr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3280" y="1972440"/>
            <a:ext cx="9068400" cy="105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lang="en-US" sz="6600" b="1" u="none" strike="noStrike">
                <a:solidFill>
                  <a:srgbClr val="ffffff"/>
                </a:solidFill>
                <a:effectLst/>
                <a:uFillTx/>
                <a:latin typeface="Source Sans Pro"/>
              </a:rPr>
              <a:t>Thank you!</a:t>
            </a:r>
            <a:endParaRPr lang="en-US" sz="6600" b="1" u="none" strike="noStrike">
              <a:solidFill>
                <a:srgbClr val="ffffff"/>
              </a:solidFill>
              <a:effectLst/>
              <a:uFillTx/>
              <a:latin typeface="Source Sans Pro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ubTitle"/>
          </p:nvPr>
        </p:nvSpPr>
        <p:spPr>
          <a:xfrm>
            <a:off x="503280" y="3510000"/>
            <a:ext cx="9068400" cy="149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2800" b="0" u="none" strike="noStrike">
              <a:solidFill>
                <a:srgbClr val="e69aba"/>
              </a:solidFill>
              <a:effectLst/>
              <a:uFillTx/>
              <a:latin typeface="Source Sans Pr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LibreOffice/25.8.5.2$Linux_X86_64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2026-04-20T23:27:34Z</dcterms:created>
  <dc:creator/>
  <dc:description/>
  <dc:language>en-US</dc:language>
  <cp:lastModifiedBy/>
  <cp:revision>1</cp:revision>
  <dc:subject/>
  <dc:title>PLUG</dc:title>
</cp:coreProperties>
</file>